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d56a3166734844" /><Relationship Type="http://schemas.openxmlformats.org/officeDocument/2006/relationships/extended-properties" Target="/docProps/app.xml" Id="R761bce73f3e14a10" /><Relationship Type="http://schemas.openxmlformats.org/officeDocument/2006/relationships/officeDocument" Target="/ppt/presentation.xml" Id="Rf3b62e8b5e0e4d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06761829fb431d"/>
  </p:sldMasterIdLst>
  <p:notesMasterIdLst>
    <p:notesMasterId xmlns:r="http://schemas.openxmlformats.org/officeDocument/2006/relationships" r:id="R429e934c0c4b4a31"/>
  </p:notesMasterIdLst>
  <p:sldIdLst>
    <p:sldId xmlns:r="http://schemas.openxmlformats.org/officeDocument/2006/relationships" id="256" r:id="R8163085dc390440e"/>
    <p:sldId xmlns:r="http://schemas.openxmlformats.org/officeDocument/2006/relationships" id="257" r:id="R0c4b464d10ce4a7d"/>
    <p:sldId xmlns:r="http://schemas.openxmlformats.org/officeDocument/2006/relationships" id="258" r:id="Rf281769cfd9d4364"/>
    <p:sldId xmlns:r="http://schemas.openxmlformats.org/officeDocument/2006/relationships" id="259" r:id="R230598179e014ea5"/>
    <p:sldId xmlns:r="http://schemas.openxmlformats.org/officeDocument/2006/relationships" id="260" r:id="R9500951827574039"/>
    <p:sldId xmlns:r="http://schemas.openxmlformats.org/officeDocument/2006/relationships" id="261" r:id="R37630bac91fe45ec"/>
    <p:sldId xmlns:r="http://schemas.openxmlformats.org/officeDocument/2006/relationships" id="262" r:id="Rbf04d1db65204b1b"/>
    <p:sldId xmlns:r="http://schemas.openxmlformats.org/officeDocument/2006/relationships" id="263" r:id="Ra0368365eb9a45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302c3c27fe45f6" /><Relationship Type="http://schemas.openxmlformats.org/officeDocument/2006/relationships/slideMaster" Target="/ppt/slideMasters/slideMaster1.xml" Id="R9d06761829fb431d" /><Relationship Type="http://schemas.openxmlformats.org/officeDocument/2006/relationships/notesMaster" Target="/ppt/notesMasters/notesMaster1.xml" Id="R429e934c0c4b4a31" /><Relationship Type="http://schemas.openxmlformats.org/officeDocument/2006/relationships/presProps" Target="/ppt/presProps.xml" Id="R51783aaae4e34673" /><Relationship Type="http://schemas.openxmlformats.org/officeDocument/2006/relationships/tableStyles" Target="/ppt/tableStyles.xml" Id="R41c52488d6ce4faa" /><Relationship Type="http://schemas.openxmlformats.org/officeDocument/2006/relationships/slide" Target="/ppt/slides/slide1.xml" Id="R8163085dc390440e" /><Relationship Type="http://schemas.openxmlformats.org/officeDocument/2006/relationships/slide" Target="/ppt/slides/slide2.xml" Id="R0c4b464d10ce4a7d" /><Relationship Type="http://schemas.openxmlformats.org/officeDocument/2006/relationships/slide" Target="/ppt/slides/slide3.xml" Id="Rf281769cfd9d4364" /><Relationship Type="http://schemas.openxmlformats.org/officeDocument/2006/relationships/slide" Target="/ppt/slides/slide4.xml" Id="R230598179e014ea5" /><Relationship Type="http://schemas.openxmlformats.org/officeDocument/2006/relationships/slide" Target="/ppt/slides/slide5.xml" Id="R9500951827574039" /><Relationship Type="http://schemas.openxmlformats.org/officeDocument/2006/relationships/slide" Target="/ppt/slides/slide6.xml" Id="R37630bac91fe45ec" /><Relationship Type="http://schemas.openxmlformats.org/officeDocument/2006/relationships/slide" Target="/ppt/slides/slide7.xml" Id="Rbf04d1db65204b1b" /><Relationship Type="http://schemas.openxmlformats.org/officeDocument/2006/relationships/slide" Target="/ppt/slides/slide8.xml" Id="Ra0368365eb9a45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8a680680a847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d1292f4b1d4c9d" /><Relationship Type="http://schemas.openxmlformats.org/officeDocument/2006/relationships/notesMaster" Target="/ppt/notesMasters/notesMaster1.xml" Id="R8c1a598a519b41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54d5995bfe4f5a" /><Relationship Type="http://schemas.openxmlformats.org/officeDocument/2006/relationships/notesMaster" Target="/ppt/notesMasters/notesMaster1.xml" Id="Rb006feff02c645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468fb012464d32" /><Relationship Type="http://schemas.openxmlformats.org/officeDocument/2006/relationships/notesMaster" Target="/ppt/notesMasters/notesMaster1.xml" Id="R46c9a9157bd94e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7792717ff04623" /><Relationship Type="http://schemas.openxmlformats.org/officeDocument/2006/relationships/notesMaster" Target="/ppt/notesMasters/notesMaster1.xml" Id="R796d7d771fa040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abd307e564447b" /><Relationship Type="http://schemas.openxmlformats.org/officeDocument/2006/relationships/notesMaster" Target="/ppt/notesMasters/notesMaster1.xml" Id="Rbcc7daee8c144a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04a38bcfd64712" /><Relationship Type="http://schemas.openxmlformats.org/officeDocument/2006/relationships/notesMaster" Target="/ppt/notesMasters/notesMaster1.xml" Id="Rb22612f195cf48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bcf041773b4ea9" /><Relationship Type="http://schemas.openxmlformats.org/officeDocument/2006/relationships/notesMaster" Target="/ppt/notesMasters/notesMaster1.xml" Id="Rd8e2a97baf4248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6485b886184f60" /><Relationship Type="http://schemas.openxmlformats.org/officeDocument/2006/relationships/notesMaster" Target="/ppt/notesMasters/notesMaster1.xml" Id="Re6100e8aef4f4e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0b3fc82d4c4c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2deba482584842" /><Relationship Type="http://schemas.openxmlformats.org/officeDocument/2006/relationships/slideLayout" Target="/ppt/slideLayouts/slideLayout1.xml" Id="Ra23f231986f248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3f231986f248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4a286e37d4134" /><Relationship Type="http://schemas.openxmlformats.org/officeDocument/2006/relationships/image" Target="/ppt/media/image.jpeg" Id="Rc4772178396841b5" /><Relationship Type="http://schemas.openxmlformats.org/officeDocument/2006/relationships/notesSlide" Target="/ppt/notesSlides/notesSlide1.xml" Id="R195bf69768d441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0d997792248d7" /><Relationship Type="http://schemas.openxmlformats.org/officeDocument/2006/relationships/notesSlide" Target="/ppt/notesSlides/notesSlide2.xml" Id="R9f2f947b2e5944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d62120b424cb4" /><Relationship Type="http://schemas.openxmlformats.org/officeDocument/2006/relationships/notesSlide" Target="/ppt/notesSlides/notesSlide3.xml" Id="R17ab7e263db74e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a2045785347df" /><Relationship Type="http://schemas.openxmlformats.org/officeDocument/2006/relationships/notesSlide" Target="/ppt/notesSlides/notesSlide4.xml" Id="Rb0631bbf165d4e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a3176a55a4b34" /><Relationship Type="http://schemas.openxmlformats.org/officeDocument/2006/relationships/notesSlide" Target="/ppt/notesSlides/notesSlide5.xml" Id="R297f26f0813541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40d161b8a4291" /><Relationship Type="http://schemas.openxmlformats.org/officeDocument/2006/relationships/notesSlide" Target="/ppt/notesSlides/notesSlide6.xml" Id="R1ae10a14741f45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3f77fcc424a1a" /><Relationship Type="http://schemas.openxmlformats.org/officeDocument/2006/relationships/notesSlide" Target="/ppt/notesSlides/notesSlide7.xml" Id="R53643df5084948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5e7098d94463b" /><Relationship Type="http://schemas.openxmlformats.org/officeDocument/2006/relationships/image" Target="/ppt/media/image2.jpeg" Id="Rfe6098accae24400" /><Relationship Type="http://schemas.openxmlformats.org/officeDocument/2006/relationships/notesSlide" Target="/ppt/notesSlides/notesSlide8.xml" Id="R4dc01abe48e84f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35D0FB-E145-4352-BE73-F8010477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D9213-E0E4-4D0E-9DB2-C7258497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6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772178396841b5"/>
          <a:stretch xmlns:a="http://schemas.openxmlformats.org/drawingml/2006/main"/>
        </p:blipFill>
        <p:spPr>
          <a:xfrm xmlns:a="http://schemas.openxmlformats.org/drawingml/2006/main">
            <a:off x="838200" y="2078302"/>
            <a:ext cx="2809875" cy="152982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BDEF2-5548-4567-B8ED-224AAAE4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495425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r">
              <a:defRPr sz="4200" b="1">
                <a:solidFill>
                  <a:srgbClr val="123E67"/>
                </a:solidFill>
              </a:defRPr>
            </a:pPr>
            <a:r>
              <a:rPr sz="4200" b="1">
                <a:solidFill>
                  <a:srgbClr val="123E67"/>
                </a:solidFill>
              </a:rPr>
              <a:t>Dr. Robot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88AEB-D014-4DDA-8657-16673890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955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r">
              <a:defRPr lang="ar-SA" sz="2400" b="1">
                <a:solidFill>
                  <a:srgbClr val="176B9D"/>
                </a:solidFill>
                <a:rtl/>
              </a:defRPr>
            </a:pPr>
            <a:r>
              <a:rPr lang="ar-SA" sz="2400" b="1">
                <a:solidFill>
                  <a:srgbClr val="176B9D"/>
                </a:solidFill>
                <a:rtl/>
              </a:rPr>
              <a:t>نبرمج المهارة، ونصنع الفرصة.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E3E966-5F3E-48AC-AEA2-66BE2E78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76575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r">
              <a:defRPr lang="ar-SA" sz="1800" b="0">
                <a:solidFill>
                  <a:srgbClr val="5B7183"/>
                </a:solidFill>
                <a:rtl/>
              </a:defRPr>
            </a:pPr>
            <a:r>
              <a:rPr lang="ar-SA" sz="1800" b="0">
                <a:solidFill>
                  <a:srgbClr val="5B7183"/>
                </a:solidFill>
                <a:rtl/>
              </a:rPr>
              <a:t>مركز تدريبي وخدمات برمجية ينقل الطموح إلى مسار مهني واضح.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87C63-8D85-4669-82DB-A9C92510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96252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r">
              <a:defRPr lang="ar-SA" sz="1200" b="1">
                <a:solidFill>
                  <a:srgbClr val="176B9D"/>
                </a:solidFill>
                <a:rtl/>
              </a:defRPr>
            </a:pPr>
            <a:r>
              <a:rPr lang="ar-SA" sz="1200" b="1">
                <a:solidFill>
                  <a:srgbClr val="176B9D"/>
                </a:solidFill>
                <a:rtl/>
              </a:rPr>
              <a:t>عرض مشروع تدريبي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18EEFD-00F5-4538-A42E-911E260B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276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r">
              <a:defRPr lang="ar-SA" sz="1200" b="0">
                <a:solidFill>
                  <a:srgbClr val="5B7183"/>
                </a:solidFill>
                <a:rtl/>
              </a:defRPr>
            </a:pPr>
            <a:r>
              <a:rPr lang="ar-SA" sz="1200" b="0">
                <a:solidFill>
                  <a:srgbClr val="5B7183"/>
                </a:solidFill>
                <a:rtl/>
              </a:rPr>
              <a:t>سلمية  |  2026</a:t>
            </a:r>
          </a:p>
        </p:txBody>
      </p:sp>
    </p:spTree>
    <p:extLst>
      <p:ext uri="{BB962C8B-B14F-4D97-AF65-F5344CB8AC3E}">
        <p14:creationId xmlns:p14="http://schemas.microsoft.com/office/powerpoint/2010/main" val="7810202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2E1F3F-7464-4E59-8ED4-D86EAFDC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078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r">
              <a:defRPr lang="ar-SA" sz="1125" b="1">
                <a:solidFill>
                  <a:srgbClr val="176B9D"/>
                </a:solidFill>
                <a:rtl/>
              </a:defRPr>
            </a:pPr>
            <a:r>
              <a:rPr lang="ar-SA" sz="1125" b="1">
                <a:solidFill>
                  <a:srgbClr val="176B9D"/>
                </a:solidFill>
                <a:rtl/>
              </a:rPr>
              <a:t>المشكلة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338F2-4FBC-470F-87A8-0E525C37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0575"/>
            <a:ext cx="10782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r">
              <a:defRPr lang="ar-SA" sz="3000" b="1">
                <a:solidFill>
                  <a:srgbClr val="123E67"/>
                </a:solidFill>
                <a:rtl/>
              </a:defRPr>
            </a:pPr>
            <a:r>
              <a:rPr lang="ar-SA" sz="3000" b="1">
                <a:solidFill>
                  <a:srgbClr val="123E67"/>
                </a:solidFill>
                <a:rtl/>
              </a:rPr>
              <a:t>فجوة بين الطموح وسوق العمل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35B85-45C8-4AB9-84A3-FA4A36E3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46685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B949"/>
          </a:solidFill>
          <a:ln xmlns:a="http://schemas.openxmlformats.org/drawingml/2006/main" w="0">
            <a:solidFill>
              <a:srgbClr val="E9B9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EE6D03-37B2-4CB0-A785-61E35925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00250"/>
            <a:ext cx="7543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lang="ar-SA" sz="2325" b="1">
                <a:solidFill>
                  <a:srgbClr val="102A43"/>
                </a:solidFill>
                <a:rtl/>
              </a:defRPr>
            </a:pPr>
            <a:r>
              <a:rPr lang="ar-SA" sz="2325" b="1">
                <a:solidFill>
                  <a:srgbClr val="102A43"/>
                </a:solidFill>
                <a:rtl/>
              </a:rPr>
              <a:t>يمتلك كثير من الشباب اهتمامًا حقيقيًا بالبرمجة، لكنهم يفتقدون التدريب العملي والاتجاه المهني الواضح.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2D0DD-A90C-459F-AED6-1DE601CB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90900"/>
            <a:ext cx="98679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4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C70A7-812B-4D54-821D-B8466114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67125"/>
            <a:ext cx="902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lang="ar-SA" sz="2100" b="1">
                <a:solidFill>
                  <a:srgbClr val="123E67"/>
                </a:solidFill>
                <a:rtl/>
              </a:defRPr>
            </a:pPr>
            <a:r>
              <a:rPr lang="ar-SA" sz="2100" b="1">
                <a:solidFill>
                  <a:srgbClr val="123E67"/>
                </a:solidFill>
                <a:rtl/>
              </a:rPr>
              <a:t>في سلمية: كفاءات برمجية محدودة، وفرص محلية قليلة، وهجرة للمهارات خارج المدينة.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2EF83-372C-4792-98CB-49740C01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248275"/>
            <a:ext cx="754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lang="ar-SA" sz="1725" b="0">
                <a:solidFill>
                  <a:srgbClr val="5B7183"/>
                </a:solidFill>
                <a:rtl/>
              </a:defRPr>
            </a:pPr>
            <a:r>
              <a:rPr lang="ar-SA" sz="1725" b="0">
                <a:solidFill>
                  <a:srgbClr val="5B7183"/>
                </a:solidFill>
                <a:rtl/>
              </a:rPr>
              <a:t>النتيجة: طاقات واعدة بلا مسار مهني فعّال.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E24CD4-A53D-40C3-AF3B-E00875D0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81750"/>
            <a:ext cx="1078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l">
              <a:defRPr sz="900" b="0">
                <a:solidFill>
                  <a:srgbClr val="5B7183"/>
                </a:solidFill>
              </a:defRPr>
            </a:pPr>
            <a:r>
              <a:rPr sz="900" b="0">
                <a:solidFill>
                  <a:srgbClr val="5B7183"/>
                </a:solidFill>
              </a:rPr>
              <a:t>Dr. Robot  |  2 / 8</a:t>
            </a:r>
          </a:p>
        </p:txBody>
      </p:sp>
    </p:spTree>
    <p:extLst>
      <p:ext uri="{BB962C8B-B14F-4D97-AF65-F5344CB8AC3E}">
        <p14:creationId xmlns:p14="http://schemas.microsoft.com/office/powerpoint/2010/main" val="139372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6C7948-B50A-48A0-BD66-1FCD4AC6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078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r">
              <a:defRPr lang="ar-SA" sz="1125" b="1">
                <a:solidFill>
                  <a:srgbClr val="176B9D"/>
                </a:solidFill>
                <a:rtl/>
              </a:defRPr>
            </a:pPr>
            <a:r>
              <a:rPr lang="ar-SA" sz="1125" b="1">
                <a:solidFill>
                  <a:srgbClr val="176B9D"/>
                </a:solidFill>
                <a:rtl/>
              </a:rPr>
              <a:t>الحل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04E37-3C90-4A9B-B534-EFC2EAA4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0575"/>
            <a:ext cx="10782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r">
              <a:defRPr lang="ar-SA" sz="3000" b="1">
                <a:solidFill>
                  <a:srgbClr val="123E67"/>
                </a:solidFill>
                <a:rtl/>
              </a:defRPr>
            </a:pPr>
            <a:r>
              <a:rPr lang="ar-SA" sz="3000" b="1">
                <a:solidFill>
                  <a:srgbClr val="123E67"/>
                </a:solidFill>
                <a:rtl/>
              </a:rPr>
              <a:t>من التعلّم إلى التنفيذ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8161C-A478-4C46-85DC-A1C20AC5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46685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B949"/>
          </a:solidFill>
          <a:ln xmlns:a="http://schemas.openxmlformats.org/drawingml/2006/main" w="0">
            <a:solidFill>
              <a:srgbClr val="E9B9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93C13-16E8-41FF-B6D2-77EA1FF9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81175"/>
            <a:ext cx="925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lang="ar-SA" sz="2100" b="1">
                <a:solidFill>
                  <a:srgbClr val="102A43"/>
                </a:solidFill>
                <a:rtl/>
              </a:defRPr>
            </a:pPr>
            <a:r>
              <a:rPr lang="ar-SA" sz="2100" b="1">
                <a:solidFill>
                  <a:srgbClr val="102A43"/>
                </a:solidFill>
                <a:rtl/>
              </a:rPr>
              <a:t>يجمع مشروعنا بين التدريب المتخصص والعمل الحقيقي ضمن بيئة واحدة.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733D0-81B3-4D55-BCAD-DE0908ED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19375"/>
            <a:ext cx="419100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EAF4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67ACF-9702-4EE7-A119-75385C50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19375"/>
            <a:ext cx="419100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B2D98-6F5B-4977-9A44-4A880A56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81325"/>
            <a:ext cx="308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lang="ar-SA" sz="2175" b="1">
                <a:solidFill>
                  <a:srgbClr val="123E67"/>
                </a:solidFill>
                <a:rtl/>
              </a:defRPr>
            </a:pPr>
            <a:r>
              <a:rPr lang="ar-SA" sz="2175" b="1">
                <a:solidFill>
                  <a:srgbClr val="123E67"/>
                </a:solidFill>
                <a:rtl/>
              </a:rPr>
              <a:t>مركز تدريبي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59F06-00CF-4652-AAF0-5E78A7E7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33775"/>
            <a:ext cx="335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lang="ar-SA" sz="1650" b="0">
                <a:solidFill>
                  <a:srgbClr val="5B7183"/>
                </a:solidFill>
                <a:rtl/>
              </a:defRPr>
            </a:pPr>
            <a:r>
              <a:rPr lang="ar-SA" sz="1650" b="0">
                <a:solidFill>
                  <a:srgbClr val="5B7183"/>
                </a:solidFill>
                <a:rtl/>
              </a:rPr>
              <a:t>مسارات عملية في البرمجة والتصميم وتطوير الويب.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36918-F673-4CD0-A2AC-CD2F1F19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981325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lang="ar-SA" sz="2175" b="1">
                <a:solidFill>
                  <a:srgbClr val="123E67"/>
                </a:solidFill>
                <a:rtl/>
              </a:defRPr>
            </a:pPr>
            <a:r>
              <a:rPr lang="ar-SA" sz="2175" b="1">
                <a:solidFill>
                  <a:srgbClr val="123E67"/>
                </a:solidFill>
                <a:rtl/>
              </a:rPr>
              <a:t>مكاتب خدمات برمجية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8A5CE-124D-420E-8F03-2671F364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33775"/>
            <a:ext cx="335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lang="ar-SA" sz="1650" b="0">
                <a:solidFill>
                  <a:srgbClr val="5B7183"/>
                </a:solidFill>
                <a:rtl/>
              </a:defRPr>
            </a:pPr>
            <a:r>
              <a:rPr lang="ar-SA" sz="1650" b="0">
                <a:solidFill>
                  <a:srgbClr val="5B7183"/>
                </a:solidFill>
                <a:rtl/>
              </a:rPr>
              <a:t>فريق ينفذ مشاريع للعملاء محليًا وعن بُعد.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59057A-4E2A-4D51-B1BB-2205F9B1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38775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lang="ar-SA" sz="2100" b="1">
                <a:solidFill>
                  <a:srgbClr val="176B9D"/>
                </a:solidFill>
                <a:rtl/>
              </a:defRPr>
            </a:pPr>
            <a:r>
              <a:rPr lang="ar-SA" sz="2100" b="1">
                <a:solidFill>
                  <a:srgbClr val="176B9D"/>
                </a:solidFill>
                <a:rtl/>
              </a:rPr>
              <a:t>تدريب + ممارسة + فرص عمل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E3C6D-8293-4020-9EB6-8F746EF7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81750"/>
            <a:ext cx="1078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l">
              <a:defRPr sz="900" b="0">
                <a:solidFill>
                  <a:srgbClr val="5B7183"/>
                </a:solidFill>
              </a:defRPr>
            </a:pPr>
            <a:r>
              <a:rPr sz="900" b="0">
                <a:solidFill>
                  <a:srgbClr val="5B7183"/>
                </a:solidFill>
              </a:rPr>
              <a:t>Dr. Robot  |  3 / 8</a:t>
            </a:r>
          </a:p>
        </p:txBody>
      </p:sp>
    </p:spTree>
    <p:extLst>
      <p:ext uri="{BB962C8B-B14F-4D97-AF65-F5344CB8AC3E}">
        <p14:creationId xmlns:p14="http://schemas.microsoft.com/office/powerpoint/2010/main" val="7031170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0F1546-2583-4AEA-B6C0-66A50C39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078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r">
              <a:defRPr lang="ar-SA" sz="1125" b="1">
                <a:solidFill>
                  <a:srgbClr val="176B9D"/>
                </a:solidFill>
                <a:rtl/>
              </a:defRPr>
            </a:pPr>
            <a:r>
              <a:rPr lang="ar-SA" sz="1125" b="1">
                <a:solidFill>
                  <a:srgbClr val="176B9D"/>
                </a:solidFill>
                <a:rtl/>
              </a:rPr>
              <a:t>القيمة المضافة والمزايا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097C8-1A53-42C6-AA53-63B69F8C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0575"/>
            <a:ext cx="10782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r">
              <a:defRPr lang="ar-SA" sz="3000" b="1">
                <a:solidFill>
                  <a:srgbClr val="123E67"/>
                </a:solidFill>
                <a:rtl/>
              </a:defRPr>
            </a:pPr>
            <a:r>
              <a:rPr lang="ar-SA" sz="3000" b="1">
                <a:solidFill>
                  <a:srgbClr val="123E67"/>
                </a:solidFill>
                <a:rtl/>
              </a:rPr>
              <a:t>قيمة تتجاوز انتهاء الدورة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A4C33-FFC2-4813-A4BE-87CC0C6D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46685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B949"/>
          </a:solidFill>
          <a:ln xmlns:a="http://schemas.openxmlformats.org/drawingml/2006/main" w="0">
            <a:solidFill>
              <a:srgbClr val="E9B9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62843-4E5D-48D9-9EEE-8FB92A48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047875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B9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55EB0-7E51-458C-BDC9-FA6CCCEB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8120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r">
              <a:defRPr lang="ar-SA" sz="1800" b="1">
                <a:solidFill>
                  <a:srgbClr val="123E67"/>
                </a:solidFill>
                <a:rtl/>
              </a:defRPr>
            </a:pPr>
            <a:r>
              <a:rPr lang="ar-SA" sz="1800" b="1">
                <a:solidFill>
                  <a:srgbClr val="123E67"/>
                </a:solidFill>
                <a:rtl/>
              </a:rPr>
              <a:t>متابعة بعد التدريب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1708E-AA07-4EE6-800A-D2807104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14575"/>
            <a:ext cx="657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r">
              <a:defRPr lang="ar-SA" sz="1350" b="0">
                <a:solidFill>
                  <a:srgbClr val="5B7183"/>
                </a:solidFill>
                <a:rtl/>
              </a:defRPr>
            </a:pPr>
            <a:r>
              <a:rPr lang="ar-SA" sz="1350" b="0">
                <a:solidFill>
                  <a:srgbClr val="5B7183"/>
                </a:solidFill>
                <a:rtl/>
              </a:rPr>
              <a:t>إرشاد مستمر يساعد المتدرب على تطوير مهارته واتخاذ خطواته التالية.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2FA3D-61A0-488A-8375-A02BF15A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33725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B9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350E6-6DE9-4307-A47F-7F2EB6AB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6705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r">
              <a:defRPr lang="ar-SA" sz="1800" b="1">
                <a:solidFill>
                  <a:srgbClr val="123E67"/>
                </a:solidFill>
                <a:rtl/>
              </a:defRPr>
            </a:pPr>
            <a:r>
              <a:rPr lang="ar-SA" sz="1800" b="1">
                <a:solidFill>
                  <a:srgbClr val="123E67"/>
                </a:solidFill>
                <a:rtl/>
              </a:rPr>
              <a:t>تجربة عملية حقيقية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9733F-C284-487E-BBDF-B67806CC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00425"/>
            <a:ext cx="657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r">
              <a:defRPr lang="ar-SA" sz="1350" b="0">
                <a:solidFill>
                  <a:srgbClr val="5B7183"/>
                </a:solidFill>
                <a:rtl/>
              </a:defRPr>
            </a:pPr>
            <a:r>
              <a:rPr lang="ar-SA" sz="1350" b="0">
                <a:solidFill>
                  <a:srgbClr val="5B7183"/>
                </a:solidFill>
                <a:rtl/>
              </a:rPr>
              <a:t>مشاريع تطبيقية تُقرب المتدرب من متطلبات العمل الفعلية.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2D652D-FAD6-4EF8-A9D6-8CC516F2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219575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B9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3D92DC-14BB-4C4A-ACDD-5E0E6355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5290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r">
              <a:defRPr lang="ar-SA" sz="1800" b="1">
                <a:solidFill>
                  <a:srgbClr val="123E67"/>
                </a:solidFill>
                <a:rtl/>
              </a:defRPr>
            </a:pPr>
            <a:r>
              <a:rPr lang="ar-SA" sz="1800" b="1">
                <a:solidFill>
                  <a:srgbClr val="123E67"/>
                </a:solidFill>
                <a:rtl/>
              </a:rPr>
              <a:t>فرص داخل المدينة وخارجها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CCD0F-5F46-4145-A120-9F2F7D79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86275"/>
            <a:ext cx="657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r">
              <a:defRPr lang="ar-SA" sz="1350" b="0">
                <a:solidFill>
                  <a:srgbClr val="5B7183"/>
                </a:solidFill>
                <a:rtl/>
              </a:defRPr>
            </a:pPr>
            <a:r>
              <a:rPr lang="ar-SA" sz="1350" b="0">
                <a:solidFill>
                  <a:srgbClr val="5B7183"/>
                </a:solidFill>
                <a:rtl/>
              </a:rPr>
              <a:t>العمل عن بُعد يوسّع السوق المتاح للكفاءات المحلية.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47BD28-2EB7-4DEA-A191-75FA04E2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48300"/>
            <a:ext cx="9334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123E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0B06CB-9CC5-4514-BDFF-A15D0BC5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5553075"/>
            <a:ext cx="874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lang="ar-SA" sz="1650" b="1">
                <a:solidFill>
                  <a:srgbClr val="FFFFFF"/>
                </a:solidFill>
                <a:rtl/>
              </a:defRPr>
            </a:pPr>
            <a:r>
              <a:rPr lang="ar-SA" sz="1650" b="1">
                <a:solidFill>
                  <a:srgbClr val="FFFFFF"/>
                </a:solidFill>
                <a:rtl/>
              </a:rPr>
              <a:t>لماذا مشروعنا؟ لأنه يبني كفاءة قابلة للعمل، لا معرفة نظرية فقط.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07C022-B15D-4160-BAE5-C763A1B3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81750"/>
            <a:ext cx="1078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l">
              <a:defRPr sz="900" b="0">
                <a:solidFill>
                  <a:srgbClr val="5B7183"/>
                </a:solidFill>
              </a:defRPr>
            </a:pPr>
            <a:r>
              <a:rPr sz="900" b="0">
                <a:solidFill>
                  <a:srgbClr val="5B7183"/>
                </a:solidFill>
              </a:rPr>
              <a:t>Dr. Robot  |  4 / 8</a:t>
            </a:r>
          </a:p>
        </p:txBody>
      </p:sp>
    </p:spTree>
    <p:extLst>
      <p:ext uri="{BB962C8B-B14F-4D97-AF65-F5344CB8AC3E}">
        <p14:creationId xmlns:p14="http://schemas.microsoft.com/office/powerpoint/2010/main" val="12028630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7A43AE-148E-4852-AD9F-19FEC537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078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r">
              <a:defRPr lang="ar-SA" sz="1125" b="1">
                <a:solidFill>
                  <a:srgbClr val="176B9D"/>
                </a:solidFill>
                <a:rtl/>
              </a:defRPr>
            </a:pPr>
            <a:r>
              <a:rPr lang="ar-SA" sz="1125" b="1">
                <a:solidFill>
                  <a:srgbClr val="176B9D"/>
                </a:solidFill>
                <a:rtl/>
              </a:rPr>
              <a:t>الفئة المستهدفة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27746-D458-406C-9401-A7BC8246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0575"/>
            <a:ext cx="10782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r">
              <a:defRPr lang="ar-SA" sz="3000" b="1">
                <a:solidFill>
                  <a:srgbClr val="123E67"/>
                </a:solidFill>
                <a:rtl/>
              </a:defRPr>
            </a:pPr>
            <a:r>
              <a:rPr lang="ar-SA" sz="3000" b="1">
                <a:solidFill>
                  <a:srgbClr val="123E67"/>
                </a:solidFill>
                <a:rtl/>
              </a:rPr>
              <a:t>نبدأ بمن يملك الاستعداد للتطوّر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2FACD-8880-455F-85BA-9B29683D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46685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B949"/>
          </a:solidFill>
          <a:ln xmlns:a="http://schemas.openxmlformats.org/drawingml/2006/main" w="0">
            <a:solidFill>
              <a:srgbClr val="E9B9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3D41C-3FAC-43B1-BB7E-BCA9493A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771650"/>
            <a:ext cx="891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lang="ar-SA" sz="2025" b="0">
                <a:solidFill>
                  <a:srgbClr val="5B7183"/>
                </a:solidFill>
                <a:rtl/>
              </a:defRPr>
            </a:pPr>
            <a:r>
              <a:rPr lang="ar-SA" sz="2025" b="0">
                <a:solidFill>
                  <a:srgbClr val="5B7183"/>
                </a:solidFill>
                <a:rtl/>
              </a:rPr>
              <a:t>فئة مركّزة تجمع بين الخلفية الأكاديمية والدافع المهني.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2051B-49A7-4746-AFE0-36C82812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05100"/>
            <a:ext cx="3667125" cy="1762125"/>
          </a:xfrm>
          <a:prstGeom xmlns:a="http://schemas.openxmlformats.org/drawingml/2006/main" prst="roundRect">
            <a:avLst>
              <a:gd name="adj" fmla="val 8649"/>
            </a:avLst>
          </a:prstGeom>
          <a:solidFill xmlns:a="http://schemas.openxmlformats.org/drawingml/2006/main">
            <a:srgbClr val="EAF4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1E2C8-170C-43B8-A94D-49ED02A7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05100"/>
            <a:ext cx="2333625" cy="1762125"/>
          </a:xfrm>
          <a:prstGeom xmlns:a="http://schemas.openxmlformats.org/drawingml/2006/main" prst="roundRect">
            <a:avLst>
              <a:gd name="adj" fmla="val 8649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5DF262-7478-43D7-B2A5-9E159A75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2333625" cy="1762125"/>
          </a:xfrm>
          <a:prstGeom xmlns:a="http://schemas.openxmlformats.org/drawingml/2006/main" prst="roundRect">
            <a:avLst>
              <a:gd name="adj" fmla="val 8649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9B841-B04C-43F2-BFAB-5FDCA50F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00375"/>
            <a:ext cx="2962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lang="ar-SA" sz="1950" b="1">
                <a:solidFill>
                  <a:srgbClr val="123E67"/>
                </a:solidFill>
                <a:rtl/>
              </a:defRPr>
            </a:pPr>
            <a:r>
              <a:rPr lang="ar-SA" sz="1950" b="1">
                <a:solidFill>
                  <a:srgbClr val="123E67"/>
                </a:solidFill>
                <a:rtl/>
              </a:rPr>
              <a:t>طلاب السنوات الأخيرة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66DDF-11ED-4619-95BA-92041A0A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48075"/>
            <a:ext cx="30384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lang="ar-SA" sz="1350" b="0">
                <a:solidFill>
                  <a:srgbClr val="5B7183"/>
                </a:solidFill>
                <a:rtl/>
              </a:defRPr>
            </a:pPr>
            <a:r>
              <a:rPr lang="ar-SA" sz="1350" b="0">
                <a:solidFill>
                  <a:srgbClr val="5B7183"/>
                </a:solidFill>
                <a:rtl/>
              </a:rPr>
              <a:t>الهندسة المعلوماتية والتخصصات القريبة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9CD9E-AB50-4E77-9684-800EF073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05150"/>
            <a:ext cx="185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lang="ar-SA" sz="1950" b="1">
                <a:solidFill>
                  <a:srgbClr val="123E67"/>
                </a:solidFill>
                <a:rtl/>
              </a:defRPr>
            </a:pPr>
            <a:r>
              <a:rPr lang="ar-SA" sz="1950" b="1">
                <a:solidFill>
                  <a:srgbClr val="123E67"/>
                </a:solidFill>
                <a:rtl/>
              </a:rPr>
              <a:t>الخريجون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103833-7E4D-4EAB-9574-7AC2F0B0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052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lang="ar-SA" sz="1275" b="0">
                <a:solidFill>
                  <a:srgbClr val="5B7183"/>
                </a:solidFill>
                <a:rtl/>
              </a:defRPr>
            </a:pPr>
            <a:r>
              <a:rPr lang="ar-SA" sz="1275" b="0">
                <a:solidFill>
                  <a:srgbClr val="5B7183"/>
                </a:solidFill>
                <a:rtl/>
              </a:rPr>
              <a:t>الباحثون عن بداية مهنية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83FF06-CFF8-42C6-8BFF-AB4BAC89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051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lang="ar-SA" sz="1800" b="1">
                <a:solidFill>
                  <a:srgbClr val="123E67"/>
                </a:solidFill>
                <a:rtl/>
              </a:defRPr>
            </a:pPr>
            <a:r>
              <a:rPr lang="ar-SA" sz="1800" b="1">
                <a:solidFill>
                  <a:srgbClr val="123E67"/>
                </a:solidFill>
                <a:rtl/>
              </a:rPr>
              <a:t>المهتمون بالمجال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79C065-2155-41A1-89F8-BAE7BAEC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05225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lang="ar-SA" sz="1275" b="0">
                <a:solidFill>
                  <a:srgbClr val="5B7183"/>
                </a:solidFill>
                <a:rtl/>
              </a:defRPr>
            </a:pPr>
            <a:r>
              <a:rPr lang="ar-SA" sz="1275" b="0">
                <a:solidFill>
                  <a:srgbClr val="5B7183"/>
                </a:solidFill>
                <a:rtl/>
              </a:rPr>
              <a:t>مع خبرة أولية أو شغف بالتعلّم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BB7593-81B9-424F-BC71-0813DFC5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149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lang="ar-SA" sz="1875" b="1">
                <a:solidFill>
                  <a:srgbClr val="176B9D"/>
                </a:solidFill>
                <a:rtl/>
              </a:defRPr>
            </a:pPr>
            <a:r>
              <a:rPr lang="ar-SA" sz="1875" b="1">
                <a:solidFill>
                  <a:srgbClr val="176B9D"/>
                </a:solidFill>
                <a:rtl/>
              </a:rPr>
              <a:t>الأولوية: من يريد تحويل اهتمامه التقني إلى فرصة عمل.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1A95C3-3CD1-4B66-9D76-5AE9A230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81750"/>
            <a:ext cx="1078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l">
              <a:defRPr sz="900" b="0">
                <a:solidFill>
                  <a:srgbClr val="5B7183"/>
                </a:solidFill>
              </a:defRPr>
            </a:pPr>
            <a:r>
              <a:rPr sz="900" b="0">
                <a:solidFill>
                  <a:srgbClr val="5B7183"/>
                </a:solidFill>
              </a:rPr>
              <a:t>Dr. Robot  |  5 / 8</a:t>
            </a:r>
          </a:p>
        </p:txBody>
      </p:sp>
    </p:spTree>
    <p:extLst>
      <p:ext uri="{BB962C8B-B14F-4D97-AF65-F5344CB8AC3E}">
        <p14:creationId xmlns:p14="http://schemas.microsoft.com/office/powerpoint/2010/main" val="18548293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D20E61-2ED1-49D7-A587-0E2C1938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078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r">
              <a:defRPr lang="ar-SA" sz="1125" b="1">
                <a:solidFill>
                  <a:srgbClr val="176B9D"/>
                </a:solidFill>
                <a:rtl/>
              </a:defRPr>
            </a:pPr>
            <a:r>
              <a:rPr lang="ar-SA" sz="1125" b="1">
                <a:solidFill>
                  <a:srgbClr val="176B9D"/>
                </a:solidFill>
                <a:rtl/>
              </a:rPr>
              <a:t>الوصول إلى الجمهور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5408AE-FB23-40BF-BB8D-0ECC6A57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0575"/>
            <a:ext cx="10782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r">
              <a:defRPr lang="ar-SA" sz="3000" b="1">
                <a:solidFill>
                  <a:srgbClr val="123E67"/>
                </a:solidFill>
                <a:rtl/>
              </a:defRPr>
            </a:pPr>
            <a:r>
              <a:rPr lang="ar-SA" sz="3000" b="1">
                <a:solidFill>
                  <a:srgbClr val="123E67"/>
                </a:solidFill>
                <a:rtl/>
              </a:rPr>
              <a:t>نصل إليهم حيث يتواصلون ويقررون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7A831-254E-4273-B0D9-299FF7F9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46685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B949"/>
          </a:solidFill>
          <a:ln xmlns:a="http://schemas.openxmlformats.org/drawingml/2006/main" w="0">
            <a:solidFill>
              <a:srgbClr val="E9B9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4579A-59ED-4753-8498-877A41CD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762125"/>
            <a:ext cx="891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lang="ar-SA" sz="2025" b="0">
                <a:solidFill>
                  <a:srgbClr val="5B7183"/>
                </a:solidFill>
                <a:rtl/>
              </a:defRPr>
            </a:pPr>
            <a:r>
              <a:rPr lang="ar-SA" sz="2025" b="0">
                <a:solidFill>
                  <a:srgbClr val="5B7183"/>
                </a:solidFill>
                <a:rtl/>
              </a:rPr>
              <a:t>تسويق رقمي محلي مدعوم بشراكات موثوقة في المنطقة.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25461-4DBB-49DA-8305-A98FEAEA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762250"/>
            <a:ext cx="333375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EAF4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81463-255C-4868-BBEB-FFC5A571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62250"/>
            <a:ext cx="485775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B5B89-ABD7-4BBC-877F-0061C609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242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lang="ar-SA" sz="1950" b="1">
                <a:solidFill>
                  <a:srgbClr val="123E67"/>
                </a:solidFill>
                <a:rtl/>
              </a:defRPr>
            </a:pPr>
            <a:r>
              <a:rPr lang="ar-SA" sz="1950" b="1">
                <a:solidFill>
                  <a:srgbClr val="123E67"/>
                </a:solidFill>
                <a:rtl/>
              </a:rPr>
              <a:t>منصات التواصل الاجتماعي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97A437-DBB2-43AD-8339-AC12C91F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6766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lang="ar-SA" sz="1425" b="0">
                <a:solidFill>
                  <a:srgbClr val="5B7183"/>
                </a:solidFill>
                <a:rtl/>
              </a:defRPr>
            </a:pPr>
            <a:r>
              <a:rPr lang="ar-SA" sz="1425" b="0">
                <a:solidFill>
                  <a:srgbClr val="5B7183"/>
                </a:solidFill>
                <a:rtl/>
              </a:rPr>
              <a:t>إعلانات ومحتوى يعرّف بالمسارات التدريبية والقصص العملية.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E1900-6756-4DFD-A4C1-4D77D299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124200"/>
            <a:ext cx="3448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lang="ar-SA" sz="1950" b="1">
                <a:solidFill>
                  <a:srgbClr val="123E67"/>
                </a:solidFill>
                <a:rtl/>
              </a:defRPr>
            </a:pPr>
            <a:r>
              <a:rPr lang="ar-SA" sz="1950" b="1">
                <a:solidFill>
                  <a:srgbClr val="123E67"/>
                </a:solidFill>
                <a:rtl/>
              </a:rPr>
              <a:t>تشبيك وشراكات محلية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A229EA-6D93-498B-A738-33D5CDE9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676650"/>
            <a:ext cx="3943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lang="ar-SA" sz="1425" b="0">
                <a:solidFill>
                  <a:srgbClr val="5B7183"/>
                </a:solidFill>
                <a:rtl/>
              </a:defRPr>
            </a:pPr>
            <a:r>
              <a:rPr lang="ar-SA" sz="1425" b="0">
                <a:solidFill>
                  <a:srgbClr val="5B7183"/>
                </a:solidFill>
                <a:rtl/>
              </a:rPr>
              <a:t>التعاون مع مؤسسات داعمة وجامعات ومجتمعات شبابية لنشر الفكرة وتبنّيها.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182772-5032-4DD3-9BC1-26EF6318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149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lang="ar-SA" sz="1800" b="1">
                <a:solidFill>
                  <a:srgbClr val="176B9D"/>
                </a:solidFill>
                <a:rtl/>
              </a:defRPr>
            </a:pPr>
            <a:r>
              <a:rPr lang="ar-SA" sz="1800" b="1">
                <a:solidFill>
                  <a:srgbClr val="176B9D"/>
                </a:solidFill>
                <a:rtl/>
              </a:rPr>
              <a:t>رسالة واضحة  →  اهتمام  →  تسجيل  →  رحلة تدريب وعمل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ED821F-9B55-4CEF-9EFA-4991C986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81750"/>
            <a:ext cx="1078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l">
              <a:defRPr sz="900" b="0">
                <a:solidFill>
                  <a:srgbClr val="5B7183"/>
                </a:solidFill>
              </a:defRPr>
            </a:pPr>
            <a:r>
              <a:rPr sz="900" b="0">
                <a:solidFill>
                  <a:srgbClr val="5B7183"/>
                </a:solidFill>
              </a:rPr>
              <a:t>Dr. Robot  |  6 / 8</a:t>
            </a:r>
          </a:p>
        </p:txBody>
      </p:sp>
    </p:spTree>
    <p:extLst>
      <p:ext uri="{BB962C8B-B14F-4D97-AF65-F5344CB8AC3E}">
        <p14:creationId xmlns:p14="http://schemas.microsoft.com/office/powerpoint/2010/main" val="17956286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999398-1AFD-451A-8635-4BD5C150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"/>
            <a:ext cx="1078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r">
              <a:defRPr lang="ar-SA" sz="1125" b="1">
                <a:solidFill>
                  <a:srgbClr val="176B9D"/>
                </a:solidFill>
                <a:rtl/>
              </a:defRPr>
            </a:pPr>
            <a:r>
              <a:rPr lang="ar-SA" sz="1125" b="1">
                <a:solidFill>
                  <a:srgbClr val="176B9D"/>
                </a:solidFill>
                <a:rtl/>
              </a:rPr>
              <a:t>تحليل SWOT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D8CA17-E86E-4BBB-8769-52720A9F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0575"/>
            <a:ext cx="10782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r">
              <a:defRPr lang="ar-SA" sz="3000" b="1">
                <a:solidFill>
                  <a:srgbClr val="123E67"/>
                </a:solidFill>
                <a:rtl/>
              </a:defRPr>
            </a:pPr>
            <a:r>
              <a:rPr lang="ar-SA" sz="3000" b="1">
                <a:solidFill>
                  <a:srgbClr val="123E67"/>
                </a:solidFill>
                <a:rtl/>
              </a:rPr>
              <a:t>صورة واقعية تساعدنا على البناء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39DAE-B1E4-4E20-A8B1-7B8B83EA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46685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B949"/>
          </a:solidFill>
          <a:ln xmlns:a="http://schemas.openxmlformats.org/drawingml/2006/main" w="0">
            <a:solidFill>
              <a:srgbClr val="E9B9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BA8838-3D72-40C9-BEA9-8B360736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95500"/>
            <a:ext cx="3762375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EAF4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06A762-2005-44C5-AA6D-4F125806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352675"/>
            <a:ext cx="3152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lang="ar-SA" sz="1875" b="1">
                <a:solidFill>
                  <a:srgbClr val="123E67"/>
                </a:solidFill>
                <a:rtl/>
              </a:defRPr>
            </a:pPr>
            <a:r>
              <a:rPr lang="ar-SA" sz="1875" b="1">
                <a:solidFill>
                  <a:srgbClr val="123E67"/>
                </a:solidFill>
                <a:rtl/>
              </a:rPr>
              <a:t>نقاط القوة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96B626-DA9A-4940-8DEE-190498CE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47975"/>
            <a:ext cx="3095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lang="ar-SA" sz="1350" b="0">
                <a:solidFill>
                  <a:srgbClr val="5B7183"/>
                </a:solidFill>
                <a:rtl/>
              </a:defRPr>
            </a:pPr>
            <a:r>
              <a:rPr lang="ar-SA" sz="1350" b="0">
                <a:solidFill>
                  <a:srgbClr val="5B7183"/>
                </a:solidFill>
                <a:rtl/>
              </a:rPr>
              <a:t>فريق يمتلك الخبرة اللازمة لتنفيذ المشروع.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645D6-EDFA-4CEA-8551-688484B4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3762375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720D7-BF61-48E0-B567-CBB6F289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352675"/>
            <a:ext cx="3152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lang="ar-SA" sz="1875" b="1">
                <a:solidFill>
                  <a:srgbClr val="123E67"/>
                </a:solidFill>
                <a:rtl/>
              </a:defRPr>
            </a:pPr>
            <a:r>
              <a:rPr lang="ar-SA" sz="1875" b="1">
                <a:solidFill>
                  <a:srgbClr val="123E67"/>
                </a:solidFill>
                <a:rtl/>
              </a:rPr>
              <a:t>نقاط الضعف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92A849-86D3-4DD3-AC63-6E3DEC1E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847975"/>
            <a:ext cx="3095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lang="ar-SA" sz="1350" b="0">
                <a:solidFill>
                  <a:srgbClr val="5B7183"/>
                </a:solidFill>
                <a:rtl/>
              </a:defRPr>
            </a:pPr>
            <a:r>
              <a:rPr lang="ar-SA" sz="1350" b="0">
                <a:solidFill>
                  <a:srgbClr val="5B7183"/>
                </a:solidFill>
                <a:rtl/>
              </a:rPr>
              <a:t>رأس مال وموارد محدودة في مرحلة الإطلاق.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F283E3-A7D9-4A4E-B55B-056E48EC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62425"/>
            <a:ext cx="3762375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EAF4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0B3564-19DA-406C-BC2B-FB529F38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419600"/>
            <a:ext cx="3152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lang="ar-SA" sz="1875" b="1">
                <a:solidFill>
                  <a:srgbClr val="123E67"/>
                </a:solidFill>
                <a:rtl/>
              </a:defRPr>
            </a:pPr>
            <a:r>
              <a:rPr lang="ar-SA" sz="1875" b="1">
                <a:solidFill>
                  <a:srgbClr val="123E67"/>
                </a:solidFill>
                <a:rtl/>
              </a:rPr>
              <a:t>الفرص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2C6016-8F0E-4470-B940-E7AAB617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14900"/>
            <a:ext cx="3095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lang="ar-SA" sz="1350" b="0">
                <a:solidFill>
                  <a:srgbClr val="5B7183"/>
                </a:solidFill>
                <a:rtl/>
              </a:defRPr>
            </a:pPr>
            <a:r>
              <a:rPr lang="ar-SA" sz="1350" b="0">
                <a:solidFill>
                  <a:srgbClr val="5B7183"/>
                </a:solidFill>
                <a:rtl/>
              </a:rPr>
              <a:t>غياب خدمة مماثلة ضمن المنطقة.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77763A-13AF-4C67-B46E-78B00F5A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62425"/>
            <a:ext cx="3762375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D8A700-424C-45EB-8F74-6F145079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19600"/>
            <a:ext cx="3152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lang="ar-SA" sz="1875" b="1">
                <a:solidFill>
                  <a:srgbClr val="123E67"/>
                </a:solidFill>
                <a:rtl/>
              </a:defRPr>
            </a:pPr>
            <a:r>
              <a:rPr lang="ar-SA" sz="1875" b="1">
                <a:solidFill>
                  <a:srgbClr val="123E67"/>
                </a:solidFill>
                <a:rtl/>
              </a:rPr>
              <a:t>التهديدات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1E93CD-D640-41D4-A1EA-750E99B4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914900"/>
            <a:ext cx="3095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lang="ar-SA" sz="1350" b="0">
                <a:solidFill>
                  <a:srgbClr val="5B7183"/>
                </a:solidFill>
                <a:rtl/>
              </a:defRPr>
            </a:pPr>
            <a:r>
              <a:rPr lang="ar-SA" sz="1350" b="0">
                <a:solidFill>
                  <a:srgbClr val="5B7183"/>
                </a:solidFill>
                <a:rtl/>
              </a:rPr>
              <a:t>انتشار منصات التعليم الإلكتروني المجانية.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222319-577B-4E6F-894A-A6445684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81750"/>
            <a:ext cx="1078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l">
              <a:defRPr sz="900" b="0">
                <a:solidFill>
                  <a:srgbClr val="5B7183"/>
                </a:solidFill>
              </a:defRPr>
            </a:pPr>
            <a:r>
              <a:rPr sz="900" b="0">
                <a:solidFill>
                  <a:srgbClr val="5B7183"/>
                </a:solidFill>
              </a:rPr>
              <a:t>Dr. Robot  |  7 / 8</a:t>
            </a:r>
          </a:p>
        </p:txBody>
      </p:sp>
    </p:spTree>
    <p:extLst>
      <p:ext uri="{BB962C8B-B14F-4D97-AF65-F5344CB8AC3E}">
        <p14:creationId xmlns:p14="http://schemas.microsoft.com/office/powerpoint/2010/main" val="7403725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622A64-37D6-4B33-87A2-7758FB49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6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6098accae24400"/>
          <a:stretch xmlns:a="http://schemas.openxmlformats.org/drawingml/2006/main"/>
        </p:blipFill>
        <p:spPr>
          <a:xfrm xmlns:a="http://schemas.openxmlformats.org/drawingml/2006/main">
            <a:off x="4905375" y="1066271"/>
            <a:ext cx="2381250" cy="129645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5C175-412D-4225-92E4-23C6F97D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14675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lang="ar-SA" sz="2700" b="1">
                <a:solidFill>
                  <a:srgbClr val="FFFFFF"/>
                </a:solidFill>
                <a:rtl/>
              </a:defRPr>
            </a:pPr>
            <a:r>
              <a:rPr lang="ar-SA" sz="2700" b="1">
                <a:solidFill>
                  <a:srgbClr val="FFFFFF"/>
                </a:solidFill>
                <a:rtl/>
              </a:rPr>
              <a:t>نصنع معًا جيلًا تقنيًا قادرًا على العمل والنمو.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D3198-B37D-485A-B774-B0D82376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814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lang="ar-SA" sz="1875" b="0">
                <a:solidFill>
                  <a:srgbClr val="D8EAF4"/>
                </a:solidFill>
                <a:rtl/>
              </a:defRPr>
            </a:pPr>
            <a:r>
              <a:rPr lang="ar-SA" sz="1875" b="0">
                <a:solidFill>
                  <a:srgbClr val="D8EAF4"/>
                </a:solidFill>
                <a:rtl/>
              </a:rPr>
              <a:t>ندعوكم لتكونوا شركاء في بناء المشروع وتوسيع أثره في المجتمع.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C3869-B7CE-4C47-9149-6D28A626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962525"/>
            <a:ext cx="43434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9B9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8C37A-F006-4821-AF6F-830E5A41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67300"/>
            <a:ext cx="381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lang="ar-SA" sz="1950" b="1">
                <a:solidFill>
                  <a:srgbClr val="123E67"/>
                </a:solidFill>
                <a:rtl/>
              </a:defRPr>
            </a:pPr>
            <a:r>
              <a:rPr lang="ar-SA" sz="1950" b="1">
                <a:solidFill>
                  <a:srgbClr val="123E67"/>
                </a:solidFill>
                <a:rtl/>
              </a:rPr>
              <a:t>لنحوّل الطموح إلى فرصة.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6A646-048A-4B91-965A-C1C0D264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10552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lang="ar-SA" sz="1125" b="0">
                <a:solidFill>
                  <a:srgbClr val="9DC7DD"/>
                </a:solidFill>
                <a:rtl/>
              </a:defRPr>
            </a:pPr>
            <a:r>
              <a:rPr lang="ar-SA" sz="1125" b="0">
                <a:solidFill>
                  <a:srgbClr val="9DC7DD"/>
                </a:solidFill>
                <a:rtl/>
              </a:rPr>
              <a:t>نبرمج المهارة، ونصنع الفرصة.</a:t>
            </a:r>
          </a:p>
        </p:txBody>
      </p:sp>
    </p:spTree>
    <p:extLst>
      <p:ext uri="{BB962C8B-B14F-4D97-AF65-F5344CB8AC3E}">
        <p14:creationId xmlns:p14="http://schemas.microsoft.com/office/powerpoint/2010/main" val="17830311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2026-08-08T09:47:48.1420000Z</dcterms:created>
  <dcterms:modified xsi:type="dcterms:W3CDTF">2026-08-08T09:47:48.1420000Z</dcterms:modified>
</coreProperties>
</file>